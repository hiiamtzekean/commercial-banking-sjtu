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Bank of China's "Crude Oil Treasure"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0"/>
              </a:spcAft>
              <a:defRPr sz="2400" b="0">
                <a:solidFill>
                  <a:srgbClr val="CADCFC"/>
                </a:solidFill>
                <a:latin typeface="Georgia"/>
              </a:defRPr>
            </a:pPr>
            <a:r>
              <a:t>A Risk Management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22860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CADCFC"/>
                </a:solidFill>
                <a:latin typeface="Calibri"/>
              </a:defRPr>
            </a:pPr>
            <a:r>
              <a:t>Ng Tze Kean  |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Bank Risk Management — Term Paper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4008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099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64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The April 2020 oil price crash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64008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41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How Crude Oil Treasure worked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64008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44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18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The Losses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How clients and the bank lost money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77639"/>
            <a:ext cx="64008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416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959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Risk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976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Market, liquidity, credit, and operational risks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54880"/>
            <a:ext cx="64008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188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73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Hindsight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How BoC could have avoided the failure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32120"/>
            <a:ext cx="64008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961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5504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Lessons Learned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521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Key takeaways for bank managers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371600"/>
            <a:ext cx="4389120" cy="4389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t>At a Glance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DC2626"/>
                </a:solidFill>
                <a:latin typeface="Georgia"/>
              </a:defRPr>
            </a:pPr>
            <a:r>
              <a:t>$−37.63/bbl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724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WTI settlement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DC2626"/>
                </a:solidFill>
                <a:latin typeface="Georgia"/>
              </a:defRPr>
            </a:pPr>
            <a:r>
              <a:t>~60,000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47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Retail investors affected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DC2626"/>
                </a:solidFill>
                <a:latin typeface="Georgia"/>
              </a:defRPr>
            </a:pPr>
            <a:r>
              <a:t>¥10 billion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3708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Estimated total losses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DC2626"/>
                </a:solidFill>
                <a:latin typeface="Georgia"/>
              </a:defRPr>
            </a:pPr>
            <a:r>
              <a:t>¥50.5 million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193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CBIRC fine imposed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3/12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Background: The April 2020 Oil Price Crash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320040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32004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Georgia"/>
              </a:defRPr>
            </a:pPr>
            <a:r>
              <a:t>Demand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COVID-19 pandemic caused an unprecedented contraction in global oil demand, particularly in transportation and industrial sectors.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320040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80160"/>
            <a:ext cx="32004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Georgia"/>
              </a:defRPr>
            </a:pPr>
            <a:r>
              <a:t>Supply Glut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0116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Saudi-Russia price war in March 2020 led to maintained or increased output when demand was already falling sharply.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280160"/>
            <a:ext cx="320040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280160"/>
            <a:ext cx="32004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Georgia"/>
              </a:defRPr>
            </a:pPr>
            <a:r>
              <a:t>Storage Crisis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Cushing, Oklahoma storage reached 70-75% capacity. WTI futures are physically settled — holders must accept delivery.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2626"/>
                </a:solidFill>
                <a:latin typeface="Georgia"/>
              </a:defRPr>
            </a:pPr>
            <a:r>
              <a:t>The Crash: 20 April 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On the final trading day of the May WTI contract, futures broke through zero for the first time in history, settling at −$37.63 per barrel. Sellers were paying buyers to take oil they could not 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4/12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Crude Oil Treasure — Product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1E2761"/>
                </a:solidFill>
                <a:latin typeface="Georgia"/>
              </a:defRPr>
            </a:pPr>
            <a:r>
              <a:t>What was "Yuan You Bao"?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Launched: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January 2018 by Bank of China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Target: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40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Mainland Chinese retail 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Exposure: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Synthetic position in WTI and Brent crude futures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Margin: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63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100% cash margin — marketed as "no leverage"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74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Risk Rating: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74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R3 (medium risk) — fundamentally misclassified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Settlement: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8862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BoC rolled positions to next-month contract on last trading 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188720"/>
            <a:ext cx="411480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1188720"/>
            <a:ext cx="64008" cy="3200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C2626"/>
                </a:solidFill>
                <a:latin typeface="Georgia"/>
              </a:defRPr>
            </a:pPr>
            <a:r>
              <a:t>Critical Design Flaw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01168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Despite being marketed as "fully margined" with no leverage, losses could theoretically exceed 100% of principal if futures settled at negative prices — a risk never disclosed to investors.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754880"/>
            <a:ext cx="10332720" cy="14630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Peer Comparison: Rollover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ICBC &amp; CCB: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349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Rolled positions 5-7 days before expiry → avoided negative prices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715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Bank of China: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715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Rolled on the last trading day → full exposure to −$37.63 settlement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The Scale of Losses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29487" y="1188720"/>
            <a:ext cx="23774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9487" y="1188720"/>
            <a:ext cx="23774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8087" y="1417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0"/>
              </a:spcAft>
              <a:defRPr sz="3200" b="1">
                <a:solidFill>
                  <a:srgbClr val="DC2626"/>
                </a:solidFill>
                <a:latin typeface="Georgia"/>
              </a:defRPr>
            </a:pPr>
            <a:r>
              <a:t>¥4.2B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087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Margin deposited</a:t>
            </a:r>
            <a:br/>
            <a:r>
              <a:t>by ~60,000 clients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1247" y="1188720"/>
            <a:ext cx="23774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1247" y="1188720"/>
            <a:ext cx="23774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9847" y="1417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0"/>
              </a:spcAft>
              <a:defRPr sz="3200" b="1">
                <a:solidFill>
                  <a:srgbClr val="DC2626"/>
                </a:solidFill>
                <a:latin typeface="Georgia"/>
              </a:defRPr>
            </a:pPr>
            <a:r>
              <a:t>¥5.8B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Additional amount</a:t>
            </a:r>
            <a:br/>
            <a:r>
              <a:t>owed beyond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188720"/>
            <a:ext cx="23774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188720"/>
            <a:ext cx="23774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417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0"/>
              </a:spcAft>
              <a:defRPr sz="3200" b="1">
                <a:solidFill>
                  <a:srgbClr val="DC2626"/>
                </a:solidFill>
                <a:latin typeface="Georgia"/>
              </a:defRPr>
            </a:pPr>
            <a:r>
              <a:t>¥10B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Total estimated</a:t>
            </a:r>
            <a:br/>
            <a:r>
              <a:t>client losses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4767" y="1188720"/>
            <a:ext cx="23774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4767" y="118872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3367" y="1417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0"/>
              </a:spcAft>
              <a:defRPr sz="3200" b="1">
                <a:solidFill>
                  <a:srgbClr val="F59E0B"/>
                </a:solidFill>
                <a:latin typeface="Georgia"/>
              </a:defRPr>
            </a:pPr>
            <a:r>
              <a:t>¥6.5B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3367" y="2103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BoC compensation</a:t>
            </a:r>
            <a:br/>
            <a:r>
              <a:t>cost to investors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38328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383280"/>
            <a:ext cx="64008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Georgia"/>
              </a:defRPr>
            </a:pPr>
            <a:r>
              <a:t>How Clients Lost 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233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Positions settled at the negative WTI price on the last trading day. The auto-liquidation system (20% margin trigger) failed because it was not designed for negative prices. Client accounts went deeply negative — investors owed the bank more than they had invested.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383280"/>
            <a:ext cx="46634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3383280"/>
            <a:ext cx="64008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566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Georgia"/>
              </a:defRPr>
            </a:pPr>
            <a:r>
              <a:t>How the Bank Lost 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02336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Negative client balances became unsecured credit exposures. Under regulatory and political pressure, BoC offered compensation of up to 20% of principal. The CBIRC fined the bank ¥50.5 million, sanctioned managers, and suspended related business 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6/12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Risk Exposure Analysis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3327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7315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Georgia"/>
              </a:defRPr>
            </a:pPr>
            <a:r>
              <a:t>Market &amp; Price-Gap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WTI collapse from positive territory to −$37.63 in a single session was far beyond any historical precedent. Stress tests did not contemplate negative-price scenarios. Late rollover maximised gap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14600"/>
            <a:ext cx="103327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51460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624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Georgia"/>
              </a:defRPr>
            </a:pPr>
            <a:r>
              <a:t>Liquidity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Market liquidity: order book thinned as Cushing storage filled. Funding liquidity: massive intraday margin calls from clearing brokers competed with core treasury obligations.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40480"/>
            <a:ext cx="103327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840480"/>
            <a:ext cx="731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Georgia"/>
              </a:defRPr>
            </a:pPr>
            <a:r>
              <a:t>Credit &amp; Counterparty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97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Negative client balances created ¥5.8B in unsecured retail credit exposure — unrecognised in BoC's credit portfolio, without underwriting standards or provisioning.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166359"/>
            <a:ext cx="103327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166359"/>
            <a:ext cx="73152" cy="1188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276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64748B"/>
                </a:solidFill>
                <a:latin typeface="Georgia"/>
              </a:defRPr>
            </a:pPr>
            <a:r>
              <a:t>Operational &amp; Conduct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62355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Auto-liquidation system failed on negative prices. Product mis-classified as R3 "medium risk." Marketing did not disclose potential for losses beyond principal.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7/12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Market Risk &amp; Liquidity Risk —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120640" cy="4937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2626"/>
                </a:solidFill>
                <a:latin typeface="Georgia"/>
              </a:defRPr>
            </a:pPr>
            <a:r>
              <a:t>Market &amp; Price-Gap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BoC's risk limits and stress scenarios were anchored on historical volatility rather than tail-risk events. The decision to settle on the most illiquid day of the contract cycle maximised exposure to intraday price gaps.</a:t>
            </a:r>
            <a:br/>
            <a:br/>
            <a:r>
              <a:t>Because BoC's hedge positions mirrored client exposures, any unhedged gap or execution slippage around the rollover directly translated into P&amp;L impacts and ultimately consumed the bank's capital.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4846320" cy="4937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4846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59E0B"/>
                </a:solidFill>
                <a:latin typeface="Georgia"/>
              </a:defRPr>
            </a:pPr>
            <a:r>
              <a:t>Liquidity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Market liquidity: Near expiry, the May WTI order book thinned dramatically. Time-zone differences between Chinese trading hours and the CME further impaired BoC's flexibility.</a:t>
            </a:r>
            <a:br/>
            <a:br/>
            <a:r>
              <a:t>Funding liquidity: Sharp price moves generated substantial intraday margin calls from clearing brokers, creating sudden cash-flow demands on the bank's treasury, competing with core lending and payment obligations.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8/12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Impact on Bank of China's Balance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3787" y="1188720"/>
            <a:ext cx="2286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3787" y="1188720"/>
            <a:ext cx="228600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2387" y="1417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0"/>
              </a:spcAft>
              <a:defRPr sz="3200" b="1">
                <a:solidFill>
                  <a:srgbClr val="1E2761"/>
                </a:solidFill>
                <a:latin typeface="Georgia"/>
              </a:defRPr>
            </a:pPr>
            <a:r>
              <a:t>¥24.4T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2387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Total Assets</a:t>
            </a:r>
            <a:br/>
            <a:r>
              <a:t>(Year-End 2020)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9827" y="1188720"/>
            <a:ext cx="2286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49827" y="1188720"/>
            <a:ext cx="228600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8427" y="1417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0"/>
              </a:spcAft>
              <a:defRPr sz="3200" b="1">
                <a:solidFill>
                  <a:srgbClr val="1E2761"/>
                </a:solidFill>
                <a:latin typeface="Georgia"/>
              </a:defRPr>
            </a:pPr>
            <a:r>
              <a:t>¥2.04T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8427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Shareholder</a:t>
            </a:r>
            <a:br/>
            <a:r>
              <a:t>Equity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5867" y="1188720"/>
            <a:ext cx="2286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867" y="1188720"/>
            <a:ext cx="228600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4467" y="1417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0"/>
              </a:spcAft>
              <a:defRPr sz="3200" b="1">
                <a:solidFill>
                  <a:srgbClr val="1E2761"/>
                </a:solidFill>
                <a:latin typeface="Georgia"/>
              </a:defRPr>
            </a:pPr>
            <a:r>
              <a:t>~12×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4467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Balance Sheet</a:t>
            </a:r>
            <a:br/>
            <a:r>
              <a:t>Leverage Ratio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1907" y="1188720"/>
            <a:ext cx="2286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1907" y="1188720"/>
            <a:ext cx="22860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0507" y="1417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0"/>
              </a:spcAft>
              <a:defRPr sz="3200" b="1">
                <a:solidFill>
                  <a:srgbClr val="DC2626"/>
                </a:solidFill>
                <a:latin typeface="Georgia"/>
              </a:defRPr>
            </a:pPr>
            <a:r>
              <a:t>&lt;0.5%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0507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Loss as % of</a:t>
            </a:r>
            <a:br/>
            <a:r>
              <a:t>Shareholder Equity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291840"/>
            <a:ext cx="10332720" cy="292608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520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Key Balance Sheet Implications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Although the ¥7-9 billion in total losses did not threaten BoC's solvency, the incident consumed economic capital and raised serious questions about the risk-return trade-off of non-core trading activities on a leveraged commercial-banking balance sheet.</a:t>
            </a:r>
            <a:br/>
            <a:br/>
            <a:r>
              <a:t>The negative client balances became unsecured credit exposures — effectively extending credit lines to 60,000 retail clients without underwriting standards, concentration limits, or provisioning. This blur between investment products and lending exposure is a key regulatory lesson from the incident.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9/12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Hindsight — What Could Have Been Done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120640" cy="4937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51206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059669"/>
                </a:solidFill>
                <a:latin typeface="Georgia"/>
              </a:defRPr>
            </a:pPr>
            <a:r>
              <a:t>1. Earlier Rollover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ICBC and CCB rolled their equivalent products to the June contract several days before expiry, avoiding the negative price entirely.</a:t>
            </a:r>
            <a:br/>
            <a:br/>
            <a:r>
              <a:t>Had BoC settled positions 5-7 business days before expiry, client positions would have closed at prices that were still in positive territory.</a:t>
            </a:r>
            <a:br/>
            <a:br/>
            <a:r>
              <a:t>Academic analysis identifies the late rollover timing as the single largest controllable factor in the scale of losses.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4846320" cy="4937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48463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059669"/>
                </a:solidFill>
                <a:latin typeface="Georgia"/>
              </a:defRPr>
            </a:pPr>
            <a:r>
              <a:t>2. Systems for Negative Prices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The CME issued an advisory on 15 April 2020 — five days before the crash — explicitly warning that energy futures could trade below zero.</a:t>
            </a:r>
            <a:br/>
            <a:br/>
            <a:r>
              <a:t>BoC's systems were not updated. The 20% margin auto-liquidation trigger failed because the system could not handle negative prices.</a:t>
            </a:r>
            <a:br/>
            <a:br/>
            <a:r>
              <a:t>Had the bank responded to the CME advisory by updating systems and activating auto-close at or near zero, losses would have been limited to margin deposits.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Hindsight — What Could Have Been Done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3327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73152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4"/>
              </a:lnSpc>
              <a:spcAft>
                <a:spcPts val="0"/>
              </a:spcAft>
              <a:defRPr sz="1700" b="1">
                <a:solidFill>
                  <a:srgbClr val="059669"/>
                </a:solidFill>
                <a:latin typeface="Georgia"/>
              </a:defRPr>
            </a:pPr>
            <a:r>
              <a:t>3. Product Design &amp; Risk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373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The R3 "medium risk" label was fundamentally at odds with a payoff profile replicating a futures contract with theoretically unlimited downside. A more rigorous new-product approval process should have identified this mismatch. The product should have included a contractual floor at zero or mandatory stop-loss triggers.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103327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017520"/>
            <a:ext cx="73152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1546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4"/>
              </a:lnSpc>
              <a:spcAft>
                <a:spcPts val="0"/>
              </a:spcAft>
              <a:defRPr sz="1700" b="1">
                <a:solidFill>
                  <a:srgbClr val="059669"/>
                </a:solidFill>
                <a:latin typeface="Georgia"/>
              </a:defRPr>
            </a:pPr>
            <a:r>
              <a:t>4. Robust Stress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661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BoC's stress-testing framework did not contemplate negative oil prices. Even before April 2020, academic literature had noted that physically-settled futures could settle at negative values when storage is scarce. Extreme-but-plausible scenarios would have revealed the product's tail-risk vulnerability.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846320"/>
            <a:ext cx="103327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846320"/>
            <a:ext cx="73152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983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4"/>
              </a:lnSpc>
              <a:spcAft>
                <a:spcPts val="0"/>
              </a:spcAft>
              <a:defRPr sz="1700" b="1">
                <a:solidFill>
                  <a:srgbClr val="059669"/>
                </a:solidFill>
                <a:latin typeface="Georgia"/>
              </a:defRPr>
            </a:pPr>
            <a:r>
              <a:t>5. Investor Suitability &amp; Disclosure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94959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Marketing materials should have explicitly stated that losses could exceed 100% of principal. Restricting the product to clients with demonstrated derivatives understanding would have reduced both the number of affected investors and the regulatory fallout.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Key Lessons for Bank Managers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7276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Any product whose economics replicate a futures or options contract must be governed with the same rigour as a derivatives business, regardless of how it is labelled or marketed.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3288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Stress testing must contemplate extreme tail-risk scenarios — not just historical volatility. If your stress test has never produced a loss that would concern the board, it isn't stressful enough.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5204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9300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Operational systems must be adaptive. Exchange-level advisories signalling novel market conditions should trigger immediate system reviews and updates.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480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5312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Conservative rollover and liquidity policies are essential. Holding positions to the last trading day of a physically-settled futures contract is inherently high-risk.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9496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5440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132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Honest risk classification and clear investor disclosures are both a regulatory requirement and a defence against reputational and capital losses from mis-selling claims.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520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22860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CADCFC"/>
                </a:solidFill>
                <a:latin typeface="Georgia"/>
              </a:defRPr>
            </a:pPr>
            <a:r>
              <a:t>Bank of China's "Crude Oil Treasure"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Ng Tze Kean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